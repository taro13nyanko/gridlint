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Segoe UI"/>
              </a:rPr>
              <a:t>SPREADSHEET REVIEW, MEASURED IN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200" b="1">
                <a:solidFill>
                  <a:srgbClr val="16211F"/>
                </a:solidFill>
                <a:latin typeface="Segoe UI"/>
              </a:rPr>
              <a:t>Gridlint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>
                <a:solidFill>
                  <a:srgbClr val="55635F"/>
                </a:solidFill>
                <a:latin typeface="Segoe UI"/>
              </a:rPr>
              <a:t>Your board deck says 38.6 months of runway.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D1344B"/>
                </a:solidFill>
                <a:latin typeface="Segoe UI"/>
              </a:rPr>
              <a:t>It has 5.2.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5635F"/>
                </a:solidFill>
                <a:latin typeface="Segoe UI"/>
              </a:rPr>
              <a:t>Gridlint reads the formulas in a workbook, recalculates every cell, and finds the mistakes that quietly change the answer — ranked by how much money each one moves.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7607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6211F"/>
                </a:solidFill>
                <a:latin typeface="Segoe UI"/>
              </a:rPr>
              <a:t>Yusuke Ota  ·  University of Tokyo  ·  solo entry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Segoe UI"/>
              </a:rPr>
              <a:t>github.com/taro13nyanko/gridlint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6211F"/>
                </a:solidFill>
                <a:latin typeface="Segoe UI"/>
              </a:rPr>
              <a:t>A broken spreadsheet does not look broken.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6692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55635F"/>
                </a:solidFill>
                <a:latin typeface="Segoe UI"/>
              </a:rPr>
              <a:t>A SUM that stops one row short still returns a number. It still formats as currency. It still lands in the board deck.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55635F"/>
                </a:solidFill>
                <a:latin typeface="Segoe UI"/>
              </a:rPr>
              <a:t>Field audits find errors in 24% to 94% of real business spreadsheets. Panko found at least one in 94% of 88 audited workbooks. (EuSpRIG)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783080"/>
            <a:ext cx="4663440" cy="2148840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 w="12700">
            <a:solidFill>
              <a:srgbClr val="FD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086600" y="2011680"/>
            <a:ext cx="4023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D1344B"/>
                </a:solidFill>
                <a:latin typeface="Consolas"/>
              </a:rPr>
              <a:t>=SUM(C11:C14)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5635F"/>
                </a:solidFill>
                <a:latin typeface="Segoe UI"/>
              </a:rPr>
              <a:t>Row 15 is “Contractors”, $185,000 a month.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5635F"/>
                </a:solidFill>
                <a:latin typeface="Segoe UI"/>
              </a:rPr>
              <a:t>The total is right there in the deck, and it is short every single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6211F"/>
                </a:solidFill>
                <a:latin typeface="Segoe UI"/>
              </a:rPr>
              <a:t>What people use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617720"/>
            <a:ext cx="33832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4828032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211F"/>
                </a:solidFill>
                <a:latin typeface="Segoe UI"/>
              </a:rPr>
              <a:t>PerfectXL · Operis OAK · Spreadsheet Detective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5635F"/>
                </a:solidFill>
                <a:latin typeface="Segoe UI"/>
              </a:rPr>
              <a:t>Desktop add-ins, $249–$2,000 per year. They hand an analyst 400 warnings.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617720"/>
            <a:ext cx="33832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17720" y="4828032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211F"/>
                </a:solidFill>
                <a:latin typeface="Segoe UI"/>
              </a:rPr>
              <a:t>Excel's own error checking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5635F"/>
                </a:solidFill>
                <a:latin typeface="Segoe UI"/>
              </a:rPr>
              <a:t>Green triangles for a handful of patterns. No ranking, no impact, no fix.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4617720"/>
            <a:ext cx="33832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0" y="4828032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211F"/>
                </a:solidFill>
                <a:latin typeface="Segoe UI"/>
              </a:rPr>
              <a:t>A second pair of eyes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5635F"/>
                </a:solidFill>
                <a:latin typeface="Segoe UI"/>
              </a:rPr>
              <a:t>The most common control in practice, and the least reliable 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6211F"/>
                </a:solidFill>
                <a:latin typeface="Segoe UI"/>
              </a:rPr>
              <a:t>None of them tells you which warning is worth reading, or what the number becomes once it is fixed.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Gridlint  ·  AI Builders 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6211F"/>
                </a:solidFill>
                <a:latin typeface="Segoe UI"/>
              </a:rPr>
              <a:t>Rank by money. Then prove the fix.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005840" y="2194560"/>
            <a:ext cx="384048" cy="384048"/>
          </a:xfrm>
          <a:prstGeom prst="round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6211F"/>
                </a:solidFill>
                <a:latin typeface="Segoe UI"/>
              </a:rPr>
              <a:t>Read the formulas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5635F"/>
                </a:solidFill>
                <a:latin typeface="Segoe UI"/>
              </a:rPr>
              <a:t>Every formula is parsed into a syntax tree and linked into a dependency graph.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96596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749039" y="2194560"/>
            <a:ext cx="384048" cy="384048"/>
          </a:xfrm>
          <a:prstGeom prst="round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74320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6211F"/>
                </a:solidFill>
                <a:latin typeface="Segoe UI"/>
              </a:rPr>
              <a:t>Recalculate the workbook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5635F"/>
                </a:solidFill>
                <a:latin typeface="Segoe UI"/>
              </a:rPr>
              <a:t>Gridlint's own engine recomputes every cell — then checks itself against the values Excel saved.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492240" y="2194560"/>
            <a:ext cx="384048" cy="384048"/>
          </a:xfrm>
          <a:prstGeom prst="round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6211F"/>
                </a:solidFill>
                <a:latin typeface="Segoe UI"/>
              </a:rPr>
              <a:t>Price each defect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5635F"/>
                </a:solidFill>
                <a:latin typeface="Segoe UI"/>
              </a:rPr>
              <a:t>The fix is applied to a copy, the workbook is recomputed, and the difference is measured.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96596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235440" y="2194560"/>
            <a:ext cx="384048" cy="384048"/>
          </a:xfrm>
          <a:prstGeom prst="round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74320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6211F"/>
                </a:solidFill>
                <a:latin typeface="Segoe UI"/>
              </a:rPr>
              <a:t>Say it in plain English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5635F"/>
                </a:solidFill>
                <a:latin typeface="Segoe UI"/>
              </a:rPr>
              <a:t>A model writes the note. It never decides what is wrong and never produces a number.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572000"/>
            <a:ext cx="106527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51560" y="47548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5635F"/>
                </a:solidFill>
                <a:latin typeface="Segoe UI"/>
              </a:rPr>
              <a:t>The output is not a list of warnings. It is a sentence with a number in it: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6211F"/>
                </a:solidFill>
                <a:latin typeface="Segoe UI"/>
              </a:rPr>
              <a:t>“One SUM leaves out the Contractors row. Runway goes from 38.6 months to 5.2, and gross margin from +6.3% to −30%.”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Gridlint  ·  AI Builders Hackathon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Segoe UI"/>
              </a:rPr>
              <a:t>WHO IT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6211F"/>
                </a:solidFill>
                <a:latin typeface="Segoe UI"/>
              </a:rPr>
              <a:t>Whoever signs off on the number.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11F"/>
                </a:solidFill>
                <a:latin typeface="Segoe UI"/>
              </a:rPr>
              <a:t>Finance and ops teams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5635F"/>
                </a:solidFill>
                <a:latin typeface="Segoe UI"/>
              </a:rPr>
              <a:t>Month-end close, board packs, budget re-forecasts. The ritual is monthly and the file is the same one every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74519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17720" y="2103120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11F"/>
                </a:solidFill>
                <a:latin typeface="Segoe UI"/>
              </a:rPr>
              <a:t>Analysts and consultants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5635F"/>
                </a:solidFill>
                <a:latin typeface="Segoe UI"/>
              </a:rPr>
              <a:t>They inherit a model built by somebody who left. Gridlint is the first hour of that handover.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874519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11F"/>
                </a:solidFill>
                <a:latin typeface="Segoe UI"/>
              </a:rPr>
              <a:t>Grant and programme admins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5635F"/>
                </a:solidFill>
                <a:latin typeface="Segoe UI"/>
              </a:rPr>
              <a:t>Public money, spreadsheet reporting, an auditor at the end of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6211F"/>
                </a:solidFill>
                <a:latin typeface="Segoe UI"/>
              </a:rPr>
              <a:t>Pricing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5196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4462272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5635F"/>
                </a:solidFill>
                <a:latin typeface="Segoe UI"/>
              </a:rPr>
              <a:t>Free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6211F"/>
                </a:solidFill>
                <a:latin typeface="Segoe UI"/>
              </a:rPr>
              <a:t>$0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5635F"/>
                </a:solidFill>
                <a:latin typeface="Segoe UI"/>
              </a:rPr>
              <a:t>One workbook · every rule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25196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17720" y="4462272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5635F"/>
                </a:solidFill>
                <a:latin typeface="Segoe UI"/>
              </a:rPr>
              <a:t>Team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6211F"/>
                </a:solidFill>
                <a:latin typeface="Segoe UI"/>
              </a:rPr>
              <a:t>$29 / editor / month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5635F"/>
                </a:solidFill>
                <a:latin typeface="Segoe UI"/>
              </a:rPr>
              <a:t>Unlimited workbooks · history · shareable reports · corrected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25196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0" y="4462272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5635F"/>
                </a:solidFill>
                <a:latin typeface="Segoe UI"/>
              </a:rPr>
              <a:t>Close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6211F"/>
                </a:solidFill>
                <a:latin typeface="Segoe UI"/>
              </a:rPr>
              <a:t>$99 / month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5635F"/>
                </a:solidFill>
                <a:latin typeface="Segoe UI"/>
              </a:rPr>
              <a:t>Scheduled re-checks · CI check for committed workbooks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521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6211F"/>
                </a:solidFill>
                <a:latin typeface="Segoe UI"/>
              </a:rPr>
              <a:t>It is a subscription because the mistake comes back every month, with the next version of the file.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Gridlint  ·  AI Builders Hackathon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6211F"/>
                </a:solidFill>
                <a:latin typeface="Segoe UI"/>
              </a:rPr>
              <a:t>One screen: what is wrong, and what it costs.</a:t>
            </a:r>
          </a:p>
        </p:txBody>
      </p:sp>
      <p:pic>
        <p:nvPicPr>
          <p:cNvPr id="5" name="Picture 4" descr="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7680960" cy="5334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783080"/>
            <a:ext cx="269748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0" y="2011680"/>
            <a:ext cx="22860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211F"/>
                </a:solidFill>
                <a:latin typeface="Segoe UI"/>
              </a:rPr>
              <a:t>Ranked by measured impact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5635F"/>
                </a:solidFill>
                <a:latin typeface="Segoe UI"/>
              </a:rPr>
              <a:t>The biggest number is the one that moves the most money, not the first one found.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211F"/>
                </a:solidFill>
                <a:latin typeface="Segoe UI"/>
              </a:rPr>
              <a:t>Grouped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5635F"/>
                </a:solidFill>
                <a:latin typeface="Segoe UI"/>
              </a:rPr>
              <a:t>Twelve monthly totals with the same mistake are one finding, not twelve.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211F"/>
                </a:solidFill>
                <a:latin typeface="Segoe UI"/>
              </a:rPr>
              <a:t>Verified fix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5635F"/>
                </a:solidFill>
                <a:latin typeface="Segoe UI"/>
              </a:rPr>
              <a:t>“30 cells change, no new errors” — because it was actually run.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211F"/>
                </a:solidFill>
                <a:latin typeface="Segoe UI"/>
              </a:rPr>
              <a:t>The grid, flagged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5635F"/>
                </a:solidFill>
                <a:latin typeface="Segoe UI"/>
              </a:rPr>
              <a:t>Toggle formulas and the defect is visible in place.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Gridlint  ·  AI Builders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Segoe UI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6211F"/>
                </a:solidFill>
                <a:latin typeface="Segoe UI"/>
              </a:rPr>
              <a:t>An Excel engine, written from scratch.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16733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13990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211F"/>
                </a:solidFill>
                <a:latin typeface="Segoe UI"/>
              </a:rPr>
              <a:t>.xlsx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5635F"/>
                </a:solidFill>
                <a:latin typeface="Segoe UI"/>
              </a:rPr>
              <a:t>loaded twice:
formulas, and the
values Excel cached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9736" y="24231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8B9793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9464" y="1920240"/>
            <a:ext cx="16733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706624" y="2084831"/>
            <a:ext cx="13990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211F"/>
                </a:solidFill>
                <a:latin typeface="Segoe UI"/>
              </a:rPr>
              <a:t>tokenizer
→ parser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5635F"/>
                </a:solidFill>
                <a:latin typeface="Segoe UI"/>
              </a:rPr>
              <a:t>single pass, precedence
climbing, full 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4231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8B9793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920240"/>
            <a:ext cx="16733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98848" y="2084831"/>
            <a:ext cx="13990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Segoe UI"/>
              </a:rPr>
              <a:t>dependency
graph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5635F"/>
                </a:solidFill>
                <a:latin typeface="Segoe UI"/>
              </a:rPr>
              <a:t>topological order,
Tarjan cycle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4183" y="24231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8B9793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920240"/>
            <a:ext cx="16733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1072" y="2084831"/>
            <a:ext cx="13990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Segoe UI"/>
              </a:rPr>
              <a:t>recalculate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5635F"/>
                </a:solidFill>
                <a:latin typeface="Segoe UI"/>
              </a:rPr>
              <a:t>90 functions,
Excel's coercion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7" y="24231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8B9793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6136" y="1920240"/>
            <a:ext cx="16733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83296" y="2084831"/>
            <a:ext cx="13990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211F"/>
                </a:solidFill>
                <a:latin typeface="Segoe UI"/>
              </a:rPr>
              <a:t>15 rules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5635F"/>
                </a:solidFill>
                <a:latin typeface="Segoe UI"/>
              </a:rPr>
              <a:t>structural, correctness,
hygiene — no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24231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8B9793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59" y="1920240"/>
            <a:ext cx="16733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875519" y="2084831"/>
            <a:ext cx="13990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211F"/>
                </a:solidFill>
                <a:latin typeface="Segoe UI"/>
              </a:rPr>
              <a:t>price + rank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5635F"/>
                </a:solidFill>
                <a:latin typeface="Segoe UI"/>
              </a:rPr>
              <a:t>apply fix → recompute
→ diff → money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56616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 w="12700">
            <a:solidFill>
              <a:srgbClr val="E6F4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51560" y="3794760"/>
            <a:ext cx="46634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Segoe UI"/>
              </a:rPr>
              <a:t>The self-check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5635F"/>
                </a:solidFill>
                <a:latin typeface="Segoe UI"/>
              </a:rPr>
              <a:t>Every workbook already stores the values its app last computed. Gridlint recomputes them and compares.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5635F"/>
                </a:solidFill>
                <a:latin typeface="Segoe UI"/>
              </a:rPr>
              <a:t>That single comparison does two jobs: it validates the engine, and it detects a file saved with calculation switched off — the numbers on screen no longer matching the formulas underneath.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211F"/>
                </a:solidFill>
                <a:latin typeface="Segoe UI"/>
              </a:rPr>
              <a:t>Below 99.5% agreement, Gridlint says so and withholds the money figures rather than guessing.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56616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92240" y="3794760"/>
            <a:ext cx="46634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11F"/>
                </a:solidFill>
                <a:latin typeface="Segoe UI"/>
              </a:rPr>
              <a:t>Engineering decisions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5635F"/>
                </a:solidFill>
                <a:latin typeface="Segoe UI"/>
              </a:rPr>
              <a:t>Evaluation never recurses into other cells: the graph is sorted, then evaluated in order. A 3,000-cell chain cannot blow the stack, and there is a test for it.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5635F"/>
                </a:solidFill>
                <a:latin typeface="Segoe UI"/>
              </a:rPr>
              <a:t>Ranges are clamped to the used area, so =SUM(A:A) does not expand to a million nodes.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5635F"/>
                </a:solidFill>
                <a:latin typeface="Segoe UI"/>
              </a:rPr>
              <a:t>Impacts are never summed — they overlap. An odd mistake for this product to make.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Gridlint  ·  AI Builders Hackathon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Segoe UI"/>
              </a:rPr>
              <a:t>WHERE THE AI IS, AND WHERE IT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6211F"/>
                </a:solidFill>
                <a:latin typeface="Segoe UI"/>
              </a:rPr>
              <a:t>The model writes. The code decides.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3949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1993391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6211F"/>
                </a:solidFill>
                <a:latin typeface="Segoe UI"/>
              </a:rPr>
              <a:t>Parse formulas, build the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993391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Segoe UI"/>
              </a:rPr>
              <a:t>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53949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54203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6211F"/>
                </a:solidFill>
                <a:latin typeface="Segoe UI"/>
              </a:rPr>
              <a:t>Recalculate the workbook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54203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Segoe UI"/>
              </a:rPr>
              <a:t>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71800"/>
            <a:ext cx="53949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5840" y="309067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6211F"/>
                </a:solidFill>
                <a:latin typeface="Segoe UI"/>
              </a:rPr>
              <a:t>Decide whether something is a defect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09067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Segoe UI"/>
              </a:rPr>
              <a:t>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0440"/>
            <a:ext cx="539496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05840" y="363931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6211F"/>
                </a:solidFill>
                <a:latin typeface="Segoe UI"/>
              </a:rPr>
              <a:t>Measure what a fix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63931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Segoe UI"/>
              </a:rPr>
              <a:t>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9080"/>
            <a:ext cx="5394960" cy="475488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 w="12700">
            <a:solidFill>
              <a:srgbClr val="FD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05840" y="4187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6211F"/>
                </a:solidFill>
                <a:latin typeface="Segoe UI"/>
              </a:rPr>
              <a:t>Explain the defect to a non-expert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18795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D1344B"/>
                </a:solidFill>
                <a:latin typeface="Segoe UI"/>
              </a:rPr>
              <a:t>Model, fenced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617720"/>
            <a:ext cx="5394960" cy="475488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 w="12700">
            <a:solidFill>
              <a:srgbClr val="FD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05840" y="473659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16211F"/>
                </a:solidFill>
                <a:latin typeface="Segoe UI"/>
              </a:rPr>
              <a:t>Draft a repair where no mechanical fix exists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73659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D1344B"/>
                </a:solidFill>
                <a:latin typeface="Segoe UI"/>
              </a:rPr>
              <a:t>Model, executed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874519"/>
            <a:ext cx="4983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720840" y="2103120"/>
            <a:ext cx="44805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Segoe UI"/>
              </a:rPr>
              <a:t>Two fences, both tested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211F"/>
                </a:solidFill>
                <a:latin typeface="Segoe UI"/>
              </a:rPr>
              <a:t>1 · Number guard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5635F"/>
                </a:solidFill>
                <a:latin typeface="Segoe UI"/>
              </a:rPr>
              <a:t>Every figure in a written note must already appear in the evidence the detector measured. Anything else is a number the model invented, and the whole sentence is thrown away.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211F"/>
                </a:solidFill>
                <a:latin typeface="Segoe UI"/>
              </a:rPr>
              <a:t>2 · Executed repairs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5635F"/>
                </a:solidFill>
                <a:latin typeface="Segoe UI"/>
              </a:rPr>
              <a:t>A proposed formula is parsed, run through the engine, and diffed. If it introduces one new error cell anywhere, it is rejected and never shown.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166360"/>
            <a:ext cx="10652760" cy="86868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 w="12700">
            <a:solidFill>
              <a:srgbClr val="E6F4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51560" y="536752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6211F"/>
                </a:solidFill>
                <a:latin typeface="Segoe UI"/>
              </a:rPr>
              <a:t>Delete the model entirely and Gridlint still finds every defect and still measures every impact. The model makes the report readable; it does not make it true.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Gridlint  ·  AI Builders Hackathon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Segoe UI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6211F"/>
                </a:solidFill>
                <a:latin typeface="Segoe UI"/>
              </a:rPr>
              <a:t>Four numbers, all reproducible from the repository.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F766E"/>
                </a:solidFill>
                <a:latin typeface="Segoe UI"/>
              </a:rPr>
              <a:t>156 / 156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211F"/>
                </a:solidFill>
                <a:latin typeface="Segoe UI"/>
              </a:rPr>
              <a:t>formulas where the engine matches Excel exactly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5635F"/>
                </a:solidFill>
                <a:latin typeface="Segoe UI"/>
              </a:rPr>
              <a:t>A conformance workbook generated by Excel itself: −2^2 = 4, 2^3^2 = 64, ROUND half away from zero, text ignored in a range but coerced as an argument.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74519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17720" y="210312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F766E"/>
                </a:solidFill>
                <a:latin typeface="Segoe UI"/>
              </a:rPr>
              <a:t>182 / 182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211F"/>
                </a:solidFill>
                <a:latin typeface="Segoe UI"/>
              </a:rPr>
              <a:t>planted defects found by the right rule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5635F"/>
                </a:solidFill>
                <a:latin typeface="Segoe UI"/>
              </a:rPr>
              <a:t>Eight kinds of defect injected into twelve clean workbooks, every mutant recalculated by Excel, then scored on whether the right rule named the right cell.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874519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F766E"/>
                </a:solidFill>
                <a:latin typeface="Segoe UI"/>
              </a:rPr>
              <a:t>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6211F"/>
                </a:solidFill>
                <a:latin typeface="Segoe UI"/>
              </a:rPr>
              <a:t>findings on 12 clean workbooks, 1,059 formulas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5635F"/>
                </a:solidFill>
                <a:latin typeface="Segoe UI"/>
              </a:rPr>
              <a:t>Blank spacer rows, subtotals rolled into a grand total, cross-sheet assumptions, VLOOKUP tables, hidden helper columns. A checker that cries wolf gets uninstalled.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480560"/>
            <a:ext cx="5212080" cy="1600200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 w="12700">
            <a:solidFill>
              <a:srgbClr val="FD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466344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1344B"/>
                </a:solidFill>
                <a:latin typeface="Segoe UI"/>
              </a:rPr>
              <a:t>The benchmark earned its keep.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5635F"/>
                </a:solidFill>
                <a:latin typeface="Segoe UI"/>
              </a:rPr>
              <a:t>It caught a real bug in Gridlint's own arithmetic: ROUND used a relative epsilon to correct binary representation error, which turned 3,806,241.4967 into 3,806,242. It now rounds in decimal.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480560"/>
            <a:ext cx="5212080" cy="160020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 w="12700">
            <a:solidFill>
              <a:srgbClr val="E6F4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92240" y="466344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0F766E"/>
                </a:solidFill>
                <a:latin typeface="Segoe UI"/>
              </a:rPr>
              <a:t>And a fourth number: 7 seconds.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5635F"/>
                </a:solidFill>
                <a:latin typeface="Segoe UI"/>
              </a:rPr>
              <a:t>A 23,000-formula model, audited end to end. Profiling it found two quadratic passes that had been costing 37 seconds. The evaluator runs at 88,000 formulas a second.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Gridlint  ·  AI Builders Hackathon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Segoe U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16211F"/>
                </a:solidFill>
                <a:latin typeface="Segoe UI"/>
              </a:rPr>
              <a:t>The check moves from “someone should look at this”
to something that runs.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2295144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6211F"/>
                </a:solidFill>
                <a:latin typeface="Segoe UI"/>
              </a:rPr>
              <a:t>Before a number leaves the building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295144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5635F"/>
                </a:solidFill>
                <a:latin typeface="Segoe UI"/>
              </a:rPr>
              <a:t>Drop the file in, read one sentence, decide. The whole check takes under a second on a 123-formula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154680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3300984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6211F"/>
                </a:solidFill>
                <a:latin typeface="Segoe UI"/>
              </a:rPr>
              <a:t>Every month, on the same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300984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5635F"/>
                </a:solidFill>
                <a:latin typeface="Segoe UI"/>
              </a:rPr>
              <a:t>A workspace keeps the workbook and its history, so the second month is a re-check, not a re-review.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160520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4306824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6211F"/>
                </a:solidFill>
                <a:latin typeface="Segoe UI"/>
              </a:rPr>
              <a:t>In CI, on a workbook in a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306824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5635F"/>
                </a:solidFill>
                <a:latin typeface="Segoe UI"/>
              </a:rPr>
              <a:t>gridlint check model.xlsx --fail-on critical exits non-zero. A pull request that breaks a total fails the build, the way it would for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166360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51560" y="5312664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16211F"/>
                </a:solidFill>
                <a:latin typeface="Segoe UI"/>
              </a:rPr>
              <a:t>As a shareable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312664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5635F"/>
                </a:solidFill>
                <a:latin typeface="Segoe UI"/>
              </a:rPr>
              <a:t>A read-only link is how a reviewer says “here is what I found” to whoever owns the file, without sending the file 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Gridlint  ·  AI Builders Hackathon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F766E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6211F"/>
                </a:solidFill>
                <a:latin typeface="Segoe UI"/>
              </a:rPr>
              <a:t>What is built, and what is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212080" cy="329184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 w="12700">
            <a:solidFill>
              <a:srgbClr val="E6F4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4663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Segoe UI"/>
              </a:rPr>
              <a:t>Working today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5635F"/>
                </a:solidFill>
                <a:latin typeface="Segoe UI"/>
              </a:rPr>
              <a:t>·  Formula engine, 90 functions, 156/156 against Excel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5635F"/>
                </a:solidFill>
                <a:latin typeface="Segoe UI"/>
              </a:rPr>
              <a:t>·  Dependency graph, recalculation, cycle detection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5635F"/>
                </a:solidFill>
                <a:latin typeface="Segoe UI"/>
              </a:rPr>
              <a:t>·  15 rules, impact measured by recalculation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5635F"/>
                </a:solidFill>
                <a:latin typeface="Segoe UI"/>
              </a:rPr>
              <a:t>·  Web app: workspaces, history, shared reports, corrected download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5635F"/>
                </a:solidFill>
                <a:latin typeface="Segoe UI"/>
              </a:rPr>
              <a:t>·  Dependency trace: where a number actually comes from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5635F"/>
                </a:solidFill>
                <a:latin typeface="Segoe UI"/>
              </a:rPr>
              <a:t>·  CLI, CI workflow, Docker, 151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74519"/>
            <a:ext cx="52120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63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6211F"/>
                </a:solidFill>
                <a:latin typeface="Segoe UI"/>
              </a:rPr>
              <a:t>Next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5635F"/>
                </a:solidFill>
                <a:latin typeface="Segoe UI"/>
              </a:rPr>
              <a:t>·  Google Sheets: read a file directly instead of exporting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5635F"/>
                </a:solidFill>
                <a:latin typeface="Segoe UI"/>
              </a:rPr>
              <a:t>·  More of Excel: array formulas, dynamic arrays, LET and LAMBDA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5635F"/>
                </a:solidFill>
                <a:latin typeface="Segoe UI"/>
              </a:rPr>
              <a:t>·  Rule packs per domain (grant reporting, payroll, VAT)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5635F"/>
                </a:solidFill>
                <a:latin typeface="Segoe UI"/>
              </a:rPr>
              <a:t>·  Watch mode: re-check on every save, diff against last month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5635F"/>
                </a:solidFill>
                <a:latin typeface="Segoe UI"/>
              </a:rPr>
              <a:t>·  A public benchmark corpus so other tools can be measured against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440680"/>
            <a:ext cx="10652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6211F"/>
                </a:solidFill>
                <a:latin typeface="Segoe UI"/>
              </a:rPr>
              <a:t>I pay for university by fixing other people's spreadsheets. Every single one had a silent formula bug in it.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0F766E"/>
                </a:solidFill>
                <a:latin typeface="Segoe UI"/>
              </a:rPr>
              <a:t>github.com/taro13nyanko/gridlint  ·  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Gridlint  ·  AI Builders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8B979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